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Roboto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5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italic.fntdata"/><Relationship Id="rId10" Type="http://schemas.openxmlformats.org/officeDocument/2006/relationships/slide" Target="slides/slide5.xml"/><Relationship Id="rId32" Type="http://schemas.openxmlformats.org/officeDocument/2006/relationships/font" Target="fonts/Raleway-bold.fntdata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39" Type="http://schemas.openxmlformats.org/officeDocument/2006/relationships/font" Target="fonts/Lato-regular.fntdata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1b66327b7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e1b66327b7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e1b66327b7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07505ed8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b07505ed8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b07505ed8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07505ed83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b07505ed83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b07505ed83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466c6f221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b466c6f221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b466c6f221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7f5f7162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b7f5f7162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b7f5f7162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45f63d00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b45f63d00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b45f63d00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45f63d002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b45f63d002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b45f63d002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466c6f221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b466c6f221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b466c6f221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45f63d002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b45f63d002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b45f63d002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1b66327b7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e1b66327b7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e1b66327b7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679fea2e0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8679fea2e0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8679fea2e0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45f63d002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b45f63d002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b45f63d002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64e44e631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b64e44e631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b64e44e631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7f5f71629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b7f5f71629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b7f5f71629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466c6f221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b466c6f221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3b466c6f221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45f63d002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b45f63d002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b45f63d002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466c6f221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b466c6f221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b466c6f221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45f63d002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b45f63d002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b45f63d002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679fea2e0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8679fea2e0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8679fea2e0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45f63d002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b45f63d002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b45f63d002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679fea2e0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8679fea2e0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8679fea2e0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679fea2e0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8679fea2e0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8679fea2e0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1b66327b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e1b66327b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e1b66327b7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07505ed83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b07505ed83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3b07505ed83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552173637d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552173637d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g3552173637d_1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>
            <p:ph idx="2" type="pic"/>
          </p:nvPr>
        </p:nvSpPr>
        <p:spPr>
          <a:xfrm>
            <a:off x="5514974" y="821531"/>
            <a:ext cx="2693100" cy="350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8.png"/><Relationship Id="rId6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89" name="Google Shape;89;p14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14312" y="28165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>
            <p:ph idx="4294967295" type="ctrTitle"/>
          </p:nvPr>
        </p:nvSpPr>
        <p:spPr>
          <a:xfrm>
            <a:off x="722613" y="1224663"/>
            <a:ext cx="80919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Session 1 Build prototype in 1 hour</a:t>
            </a:r>
            <a:endParaRPr b="0" sz="11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Session 2 -- </a:t>
            </a:r>
            <a:r>
              <a:rPr lang="en" sz="11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Automate your PM workflow by 10x efficiency with AI skills</a:t>
            </a:r>
            <a:endParaRPr sz="11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Session 3 -- Become your Team’s AI champion -- build team level second brain</a:t>
            </a:r>
            <a:endParaRPr b="0" sz="11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Session 4 -- Capstone project demo</a:t>
            </a:r>
            <a:endParaRPr sz="1100">
              <a:solidFill>
                <a:srgbClr val="000000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96" name="Google Shape;96;p15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14312" y="28165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2651763" y="2185350"/>
            <a:ext cx="44043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AI Edge </a:t>
            </a:r>
            <a:r>
              <a:rPr b="0" i="0" lang="en" sz="1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Product Manager </a:t>
            </a:r>
            <a:r>
              <a:rPr lang="en" sz="1700">
                <a:solidFill>
                  <a:srgbClr val="3F3F3F"/>
                </a:solidFill>
              </a:rPr>
              <a:t>Bootcamp</a:t>
            </a:r>
            <a:endParaRPr b="0" i="0" sz="17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idx="4294967295" type="ctrTitle"/>
          </p:nvPr>
        </p:nvSpPr>
        <p:spPr>
          <a:xfrm>
            <a:off x="722613" y="1224663"/>
            <a:ext cx="80919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 2 : Automate your PM workflow by 10x with AI skills</a:t>
            </a:r>
            <a:endParaRPr sz="3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6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106" name="Google Shape;106;p16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108" name="Google Shape;108;p16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Levels of AI Usage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008200" y="1235550"/>
            <a:ext cx="6558000" cy="3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300"/>
              <a:t>AI AS A INTERN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300"/>
              <a:t>AI as team member --Co-create context with AI -- </a:t>
            </a:r>
            <a:r>
              <a:rPr b="1" lang="en" sz="1300">
                <a:solidFill>
                  <a:schemeClr val="accent3"/>
                </a:solidFill>
              </a:rPr>
              <a:t>in class activities </a:t>
            </a:r>
            <a:endParaRPr b="1" sz="1300">
              <a:solidFill>
                <a:schemeClr val="accent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AI as second brain -- Build your AI Skills -- </a:t>
            </a:r>
            <a:r>
              <a:rPr b="1" lang="en" sz="1300">
                <a:solidFill>
                  <a:schemeClr val="accent3"/>
                </a:solidFill>
              </a:rPr>
              <a:t> in class activities </a:t>
            </a:r>
            <a:endParaRPr b="1" sz="13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3"/>
                </a:solidFill>
              </a:rPr>
              <a:t>Bonus: The best skills for PMs</a:t>
            </a:r>
            <a:endParaRPr b="1" sz="13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118" name="Google Shape;118;p17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70937" y="29110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>
            <p:ph idx="4294967295" type="ctrTitle"/>
          </p:nvPr>
        </p:nvSpPr>
        <p:spPr>
          <a:xfrm>
            <a:off x="801913" y="2010463"/>
            <a:ext cx="80919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 : Weekly Business Review</a:t>
            </a:r>
            <a:endParaRPr b="0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Data: Ecommerce_db</a:t>
            </a:r>
            <a:endParaRPr b="0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125" name="Google Shape;125;p18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70937" y="29110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>
            <p:ph idx="4294967295" type="ctrTitle"/>
          </p:nvPr>
        </p:nvSpPr>
        <p:spPr>
          <a:xfrm>
            <a:off x="586475" y="1267356"/>
            <a:ext cx="8091900" cy="26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level of WBR report requirements:</a:t>
            </a:r>
            <a:endParaRPr b="0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0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over week comparison of top line metrics (total revenue and number of visitors, total purchases)</a:t>
            </a:r>
            <a:endParaRPr b="0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0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 from this week's data</a:t>
            </a:r>
            <a:endParaRPr b="0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b="0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we are building weekly report for week of Dec 2 - Dec 8</a:t>
            </a:r>
            <a:endParaRPr b="0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132" name="Google Shape;132;p19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70937" y="29110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101450" y="2777000"/>
            <a:ext cx="72186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You provide curated context, AI execute</a:t>
            </a:r>
            <a:endParaRPr sz="1700">
              <a:solidFill>
                <a:srgbClr val="3F3F3F"/>
              </a:solidFill>
            </a:endParaRPr>
          </a:p>
        </p:txBody>
      </p:sp>
      <p:sp>
        <p:nvSpPr>
          <p:cNvPr id="134" name="Google Shape;134;p19"/>
          <p:cNvSpPr txBox="1"/>
          <p:nvPr>
            <p:ph idx="4294967295" type="ctrTitle"/>
          </p:nvPr>
        </p:nvSpPr>
        <p:spPr>
          <a:xfrm>
            <a:off x="731075" y="1096350"/>
            <a:ext cx="72687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AI as an intern</a:t>
            </a:r>
            <a:endParaRPr sz="3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20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142" name="Google Shape;142;p20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0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144" name="Google Shape;144;p20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Prompts of Level 1 -  AI as an Intern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279600" y="884075"/>
            <a:ext cx="8864400" cy="7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I have a SQLite ecommerce database with the following schema: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DATABASE: ecommerce_data.db (SQLite)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STAR SCHEMA STRUCTURE: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- Fact Table: daily_metrics (contains all metrics)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- Dimension Tables: dates, customer_types, channels, product_categories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TABLE DEFINITIONS: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1. daily_metrics (Fact Table)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Columns: metric_id, date_id, customer_type_id, channel_id, category_id,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visitors, page_views, add_to_carts, checkouts, purchases,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total_revenue, avg_order_value, return_rate, support_tickets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2. dates (Dimension - Time)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Columns: date_id, date (TEXT format YYYY-MM-DD), is_black_friday_period (0/1),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is_weekend (0/1), day_of_week (0-6)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3. channels (Dimension - Sales Channel)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Columns: channel_id, channel_name (e.g., "Email", "Direct")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4. customer_types (Dimension - Customer Classification)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Columns: customer_type_id, customer_type_name (e.g., "New", "Returning")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5. product_categories (Dimension - Product Type)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Columns: category_id, category_name (e.g., "Electronics", "Home Goods")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DATA DATE RANGE: November 1 - December 15, 2024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TASK: Generate SQL queries to calculate top-line business metrics comparing two weeks.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REQUIREMENTS: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1. All queries must use JOINs to connect daily_metrics with dimension tables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2. Use TEXT date format (YYYY-MM-DD) for filtering by date ranges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3. Return results with clear column names and metric labels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4. Queries should be compatible with SQLite syntax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5. Results should be immediately copy-paste ready into SQL Server or SQLite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QUERIES NEEDED (Generate one query for each, or combine into a single comprehensive query):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### Query 1: Total Metrics for Week 1 (e.g., Dec 2-8)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Return: Total Revenue, Total Visitors, Total Purchases, Total Page Views, Total Add to Carts,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Total Checkouts, Average AOV, Conversion Rate (purchases/visitors),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        Average Return Rate, Total Support Tickets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2"/>
                </a:solidFill>
                <a:highlight>
                  <a:srgbClr val="F2F2F2"/>
                </a:highlight>
                <a:latin typeface="Courier New"/>
                <a:ea typeface="Courier New"/>
                <a:cs typeface="Courier New"/>
                <a:sym typeface="Courier New"/>
              </a:rPr>
              <a:t>Filter: Date range 2024-12-02 to 2024-12-08</a:t>
            </a:r>
            <a:endParaRPr sz="750">
              <a:solidFill>
                <a:schemeClr val="dk2"/>
              </a:solidFill>
              <a:highlight>
                <a:srgbClr val="F2F2F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21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156" name="Google Shape;156;p21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1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158" name="Google Shape;158;p21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Patterns in Level 1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716700" y="1011825"/>
            <a:ext cx="7157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Multi-step assignments.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Conversational feedback loop: assign → review → correct. It feels like managing a junior teammate who needs close supervision.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Human provide and curate context, AI execute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Can we let AI gather context itself?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168" name="Google Shape;168;p22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70937" y="29110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/>
          <p:nvPr/>
        </p:nvSpPr>
        <p:spPr>
          <a:xfrm>
            <a:off x="1298200" y="2819150"/>
            <a:ext cx="72186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Human is context architect, delegate goals.</a:t>
            </a:r>
            <a:endParaRPr sz="1700">
              <a:solidFill>
                <a:srgbClr val="3F3F3F"/>
              </a:solidFill>
            </a:endParaRPr>
          </a:p>
        </p:txBody>
      </p:sp>
      <p:sp>
        <p:nvSpPr>
          <p:cNvPr id="170" name="Google Shape;170;p22"/>
          <p:cNvSpPr txBox="1"/>
          <p:nvPr>
            <p:ph idx="4294967295" type="ctrTitle"/>
          </p:nvPr>
        </p:nvSpPr>
        <p:spPr>
          <a:xfrm>
            <a:off x="1273162" y="1273500"/>
            <a:ext cx="72687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AI as a TEAM MATE</a:t>
            </a:r>
            <a:endParaRPr sz="3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23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178" name="Google Shape;178;p23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3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180" name="Google Shape;180;p23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642300" y="502200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Mindset change 1: Coach AI as a manager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8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642300" y="1658775"/>
            <a:ext cx="7937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Co- create every context with AI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Coach AI to do the task E2E by itself individually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24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192" name="Google Shape;192;p24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4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194" name="Google Shape;194;p24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4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Mindset change 2: turn context into  asset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673250" y="1642675"/>
            <a:ext cx="7937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/>
              <a:t>Prompt: </a:t>
            </a:r>
            <a:r>
              <a:rPr lang="en" sz="1500"/>
              <a:t>Explore ecommerce.db and create database_schema.md with the documented schema."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500"/>
              <a:t>Then we step back and watch it plan, inspect files, and write the artifact autonomously.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5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206" name="Google Shape;206;p25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5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208" name="Google Shape;208;p25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5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Why this is important?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0" name="Google Shape;21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815700" y="1207950"/>
            <a:ext cx="75426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From Artifact to </a:t>
            </a:r>
            <a:r>
              <a:rPr b="1"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Reusable Asset</a:t>
            </a: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database_schema.md 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When new teammates onboarding, they can Start with the schema to understand the system in hours, not weeks. 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When you build  Future AI agents, the agents reuse the document to answer questions without re-exploring the database.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Refer  the schema into WBR documentation to justify metrics with source truth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26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220" name="Google Shape;220;p26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6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222" name="Google Shape;222;p26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Mindset change 3: et AI ask you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600700" y="1504500"/>
            <a:ext cx="77190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Prompt: Brainstorm with me on what content to include in the VP WBR report ,</a:t>
            </a: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ask me one question at a time.</a:t>
            </a:r>
            <a:endParaRPr b="1"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Below are high level requirements of weekly business review: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…</a:t>
            </a:r>
            <a:endParaRPr b="1"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27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234" name="Google Shape;234;p27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7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236" name="Google Shape;236;p27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7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Why this is important?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815700" y="1207950"/>
            <a:ext cx="75426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Prevent wrong assumptions 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Define what is ‘good’ by coworking with AI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One question at a time, stay focused 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28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248" name="Google Shape;248;p28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8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250" name="Google Shape;250;p28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8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My prompts</a:t>
            </a: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 of WBR report: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" name="Google Shape;25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8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500075" y="1030438"/>
            <a:ext cx="7940100" cy="3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AutoNum type="arabicPeriod"/>
            </a:pPr>
            <a:r>
              <a:rPr b="1"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I want in the report: 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 want to compare the current week 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(12-02 to 12-08)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versus the previous week in terms of the top line metrics including 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AutoNum type="alphaLcPeriod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revenue, 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AutoNum type="alphaLcPeriod"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number of visitors. 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First suggest if there are other top line revenues I should pay attention to and then create comparison visuals between this week and the previous week.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AutoNum type="arabicPeriod"/>
            </a:pPr>
            <a:r>
              <a:rPr b="1" lang="en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Deep dive:</a:t>
            </a:r>
            <a:r>
              <a:rPr lang="en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Now run a deep analysis, 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identify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surprising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factors in your previous analysis. List hypothesis that may explain the factors, and use data to validate the hypothesis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AutoNum type="arabicPeriod"/>
            </a:pPr>
            <a:r>
              <a:rPr b="1"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Final report generation: 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Now summarize all insights into a 1-pager for VP review, include executive summary on top line metrics (only need Total Revenue, Total Vistors, Total Purchases), Insights , Hypothesis with validation results, strategical suggestions. 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Include</a:t>
            </a: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visuals to make it look good. Store the report in an html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260" name="Google Shape;260;p29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70937" y="29110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9"/>
          <p:cNvSpPr/>
          <p:nvPr/>
        </p:nvSpPr>
        <p:spPr>
          <a:xfrm>
            <a:off x="490750" y="2378550"/>
            <a:ext cx="8153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Building WBR report with team mate approach</a:t>
            </a:r>
            <a:endParaRPr sz="1700">
              <a:solidFill>
                <a:srgbClr val="3F3F3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Step1: Generate team asset-- the data schema md file</a:t>
            </a:r>
            <a:br>
              <a:rPr lang="en" sz="1700">
                <a:solidFill>
                  <a:srgbClr val="3F3F3F"/>
                </a:solidFill>
              </a:rPr>
            </a:br>
            <a:r>
              <a:rPr lang="en" sz="1700">
                <a:solidFill>
                  <a:srgbClr val="3F3F3F"/>
                </a:solidFill>
              </a:rPr>
              <a:t>Step2: Put yourself as manager role, lead the AI to </a:t>
            </a:r>
            <a:r>
              <a:rPr lang="en" sz="1700">
                <a:solidFill>
                  <a:srgbClr val="3F3F3F"/>
                </a:solidFill>
              </a:rPr>
              <a:t>generate</a:t>
            </a:r>
            <a:r>
              <a:rPr lang="en" sz="1700">
                <a:solidFill>
                  <a:srgbClr val="3F3F3F"/>
                </a:solidFill>
              </a:rPr>
              <a:t> a report draft. You can use your own data analysis approach</a:t>
            </a:r>
            <a:endParaRPr sz="1700">
              <a:solidFill>
                <a:srgbClr val="3F3F3F"/>
              </a:solidFill>
            </a:endParaRPr>
          </a:p>
        </p:txBody>
      </p:sp>
      <p:sp>
        <p:nvSpPr>
          <p:cNvPr id="262" name="Google Shape;262;p29"/>
          <p:cNvSpPr txBox="1"/>
          <p:nvPr>
            <p:ph idx="4294967295" type="ctrTitle"/>
          </p:nvPr>
        </p:nvSpPr>
        <p:spPr>
          <a:xfrm>
            <a:off x="731075" y="1096350"/>
            <a:ext cx="72687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In class activity</a:t>
            </a:r>
            <a:endParaRPr sz="3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30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270" name="Google Shape;270;p30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272" name="Google Shape;272;p30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0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Levels of AI Usage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4" name="Google Shape;27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1008200" y="1235550"/>
            <a:ext cx="65580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300"/>
              <a:t>AI AS A INTERN-- You define steps, AI conduct actions. Human do context curation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300"/>
              <a:t>AI AS A TEAM MATE --You can delegate outcomes instead of steps, and the AI plan, explore, and report back. Human do context architecture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AI AS A SECOND BRAIN ---  ??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282" name="Google Shape;282;p31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70937" y="29110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1"/>
          <p:cNvSpPr/>
          <p:nvPr/>
        </p:nvSpPr>
        <p:spPr>
          <a:xfrm>
            <a:off x="756125" y="2739775"/>
            <a:ext cx="72186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Human and AI co create context</a:t>
            </a:r>
            <a:r>
              <a:rPr lang="en" sz="1700">
                <a:solidFill>
                  <a:srgbClr val="3F3F3F"/>
                </a:solidFill>
              </a:rPr>
              <a:t>.</a:t>
            </a:r>
            <a:endParaRPr sz="1700">
              <a:solidFill>
                <a:srgbClr val="3F3F3F"/>
              </a:solidFill>
            </a:endParaRPr>
          </a:p>
        </p:txBody>
      </p:sp>
      <p:sp>
        <p:nvSpPr>
          <p:cNvPr id="284" name="Google Shape;284;p31"/>
          <p:cNvSpPr txBox="1"/>
          <p:nvPr>
            <p:ph idx="4294967295" type="ctrTitle"/>
          </p:nvPr>
        </p:nvSpPr>
        <p:spPr>
          <a:xfrm>
            <a:off x="731075" y="1096350"/>
            <a:ext cx="72687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AI as a SECOND BRAIN</a:t>
            </a:r>
            <a:endParaRPr sz="3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32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292" name="Google Shape;292;p32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2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294" name="Google Shape;294;p32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2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The Second Brain Framework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6" name="Google Shape;29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2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2"/>
          <p:cNvSpPr txBox="1"/>
          <p:nvPr/>
        </p:nvSpPr>
        <p:spPr>
          <a:xfrm>
            <a:off x="600700" y="1340825"/>
            <a:ext cx="75945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Fist -- Cowork with AI to create the context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Second--distill your coaching into a solid asset, an Skill.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Prompt example: based on our conversation, create an SOP file for WBR report generation.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Third ---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Continuously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update your rules and SOPS. Leverage AI-Native rule tools ( Github Copilot rules, Cursor rules etc)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304" name="Google Shape;304;p33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70937" y="29110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3"/>
          <p:cNvSpPr/>
          <p:nvPr/>
        </p:nvSpPr>
        <p:spPr>
          <a:xfrm>
            <a:off x="1118675" y="1853250"/>
            <a:ext cx="72186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Building WBR report with second brain approach</a:t>
            </a:r>
            <a:endParaRPr sz="1700">
              <a:solidFill>
                <a:srgbClr val="3F3F3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3F3F3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3F3F3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Step1: Generate SOP file with your AI agent</a:t>
            </a:r>
            <a:endParaRPr sz="1700">
              <a:solidFill>
                <a:srgbClr val="3F3F3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3F3F3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Step 2: Generate a report for another week using your SOP, and evaluate quality</a:t>
            </a:r>
            <a:endParaRPr sz="1700">
              <a:solidFill>
                <a:srgbClr val="3F3F3F"/>
              </a:solidFill>
            </a:endParaRPr>
          </a:p>
        </p:txBody>
      </p:sp>
      <p:sp>
        <p:nvSpPr>
          <p:cNvPr id="306" name="Google Shape;306;p33"/>
          <p:cNvSpPr txBox="1"/>
          <p:nvPr>
            <p:ph idx="4294967295" type="ctrTitle"/>
          </p:nvPr>
        </p:nvSpPr>
        <p:spPr>
          <a:xfrm>
            <a:off x="731075" y="1096350"/>
            <a:ext cx="72687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In class activity</a:t>
            </a:r>
            <a:endParaRPr sz="3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4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314" name="Google Shape;314;p34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34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316" name="Google Shape;316;p34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4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Levels of AI Usage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4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4"/>
          <p:cNvSpPr txBox="1"/>
          <p:nvPr/>
        </p:nvSpPr>
        <p:spPr>
          <a:xfrm>
            <a:off x="1008200" y="1235550"/>
            <a:ext cx="6558000" cy="28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300"/>
              <a:t>AI AS A executor-- Agentic workflows. The AI begins to plan, explore, and report back. Human do context curation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300"/>
              <a:t>AI AS A PROJECT MANAGER --You can delegate outcomes instead of steps, and the AI coordinates the work.  Human do context separation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AI AS A SECOND BRAIN ---  Human and AI reason over a shared context to design and ship new systems together.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35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328" name="Google Shape;328;p35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5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330" name="Google Shape;330;p35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5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An Actionable Framework to build you AI second brain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2" name="Google Shape;33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5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5"/>
          <p:cNvSpPr txBox="1"/>
          <p:nvPr/>
        </p:nvSpPr>
        <p:spPr>
          <a:xfrm>
            <a:off x="537700" y="939525"/>
            <a:ext cx="7985400" cy="4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Build your </a:t>
            </a:r>
            <a:r>
              <a:rPr b="1" lang="en" sz="1300"/>
              <a:t>knowledge base</a:t>
            </a:r>
            <a:r>
              <a:rPr b="1" lang="en" sz="1300"/>
              <a:t>. Next time you run a repetitive task, document it so AI can reuse. Open your </a:t>
            </a:r>
            <a:r>
              <a:rPr b="1" lang="en" sz="1300"/>
              <a:t>project</a:t>
            </a:r>
            <a:r>
              <a:rPr b="1" lang="en" sz="1300"/>
              <a:t> in an AI-Native editor (Github Copilot, Cursor..)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Curate your next prompt. If a chat is &gt;3 rounds, pause and rewrite a single, consolidated instruction before continuing, and make it into a template.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Let AI ask you questions, one question per time</a:t>
            </a:r>
            <a:endParaRPr b="1" sz="13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Coach and co-craete with your AI agent. Delegate high-level goals, co create the entire workflow with AI, then solidate it into skills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36"/>
          <p:cNvGrpSpPr/>
          <p:nvPr/>
        </p:nvGrpSpPr>
        <p:grpSpPr>
          <a:xfrm flipH="1">
            <a:off x="-177" y="395650"/>
            <a:ext cx="384851" cy="839893"/>
            <a:chOff x="11667" y="3260"/>
            <a:chExt cx="1055" cy="1947"/>
          </a:xfrm>
        </p:grpSpPr>
        <p:sp>
          <p:nvSpPr>
            <p:cNvPr id="342" name="Google Shape;342;p36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6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344" name="Google Shape;344;p36"/>
          <p:cNvPicPr preferRelativeResize="0"/>
          <p:nvPr/>
        </p:nvPicPr>
        <p:blipFill rotWithShape="1">
          <a:blip r:embed="rId4">
            <a:alphaModFix/>
          </a:blip>
          <a:srcRect b="65430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6"/>
          <p:cNvSpPr txBox="1"/>
          <p:nvPr/>
        </p:nvSpPr>
        <p:spPr>
          <a:xfrm>
            <a:off x="600700" y="206025"/>
            <a:ext cx="7859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Useful Claude skills for PMs (</a:t>
            </a: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continuous</a:t>
            </a:r>
            <a:r>
              <a:rPr b="1" lang="en" sz="2400">
                <a:highlight>
                  <a:srgbClr val="FBFBFB"/>
                </a:highlight>
                <a:latin typeface="Roboto"/>
                <a:ea typeface="Roboto"/>
                <a:cs typeface="Roboto"/>
                <a:sym typeface="Roboto"/>
              </a:rPr>
              <a:t> updating)</a:t>
            </a:r>
            <a:endParaRPr b="1" i="0" sz="4200" u="none" cap="none" strike="noStrike">
              <a:solidFill>
                <a:srgbClr val="424242"/>
              </a:solidFill>
              <a:highlight>
                <a:srgbClr val="FBFBFB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6" name="Google Shape;34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6"/>
          <p:cNvSpPr txBox="1"/>
          <p:nvPr/>
        </p:nvSpPr>
        <p:spPr>
          <a:xfrm>
            <a:off x="71120" y="4871720"/>
            <a:ext cx="671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Copyright 2025 Dr. Nancy Li International LLC. All Rights Reserved</a:t>
            </a:r>
            <a:endParaRPr b="0" i="0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6"/>
          <p:cNvSpPr txBox="1"/>
          <p:nvPr/>
        </p:nvSpPr>
        <p:spPr>
          <a:xfrm>
            <a:off x="537700" y="939525"/>
            <a:ext cx="7985400" cy="27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https://docs.google.com/document/d/1u1dOgSCiAXoCPKlHJmAlTNh1pJeNsvr_4r_lSWLcdUw/edit?usp=sharing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微信图片_20220612020852" id="354" name="Google Shape;354;p37"/>
          <p:cNvPicPr preferRelativeResize="0"/>
          <p:nvPr/>
        </p:nvPicPr>
        <p:blipFill rotWithShape="1">
          <a:blip r:embed="rId3">
            <a:alphaModFix/>
          </a:blip>
          <a:srcRect b="65430" l="20896" r="17371" t="10123"/>
          <a:stretch/>
        </p:blipFill>
        <p:spPr>
          <a:xfrm>
            <a:off x="3770937" y="291100"/>
            <a:ext cx="1438724" cy="62629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7"/>
          <p:cNvSpPr/>
          <p:nvPr/>
        </p:nvSpPr>
        <p:spPr>
          <a:xfrm>
            <a:off x="1298200" y="2819150"/>
            <a:ext cx="72186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shift from solving technical problems to </a:t>
            </a:r>
            <a:r>
              <a:rPr b="1" lang="en" sz="1700">
                <a:solidFill>
                  <a:srgbClr val="3F3F3F"/>
                </a:solidFill>
              </a:rPr>
              <a:t>managing</a:t>
            </a:r>
            <a:r>
              <a:rPr lang="en" sz="1700">
                <a:solidFill>
                  <a:srgbClr val="3F3F3F"/>
                </a:solidFill>
              </a:rPr>
              <a:t> uncertainty</a:t>
            </a:r>
            <a:endParaRPr sz="1700">
              <a:solidFill>
                <a:srgbClr val="3F3F3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3F3F3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F3F3F"/>
                </a:solidFill>
              </a:rPr>
              <a:t>The core navigating in uncertainty is management</a:t>
            </a:r>
            <a:endParaRPr sz="1700">
              <a:solidFill>
                <a:srgbClr val="3F3F3F"/>
              </a:solidFill>
            </a:endParaRPr>
          </a:p>
        </p:txBody>
      </p:sp>
      <p:sp>
        <p:nvSpPr>
          <p:cNvPr id="356" name="Google Shape;356;p37"/>
          <p:cNvSpPr txBox="1"/>
          <p:nvPr>
            <p:ph idx="4294967295" type="ctrTitle"/>
          </p:nvPr>
        </p:nvSpPr>
        <p:spPr>
          <a:xfrm>
            <a:off x="731075" y="1096350"/>
            <a:ext cx="72687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Your promotion</a:t>
            </a:r>
            <a:endParaRPr sz="3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"/>
          <p:cNvSpPr/>
          <p:nvPr/>
        </p:nvSpPr>
        <p:spPr>
          <a:xfrm>
            <a:off x="-652972" y="3314702"/>
            <a:ext cx="2286000" cy="2286000"/>
          </a:xfrm>
          <a:prstGeom prst="ellipse">
            <a:avLst/>
          </a:prstGeom>
          <a:gradFill>
            <a:gsLst>
              <a:gs pos="0">
                <a:srgbClr val="F2F2F2">
                  <a:alpha val="51764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600710" y="4058285"/>
            <a:ext cx="884555" cy="553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38"/>
          <p:cNvGrpSpPr/>
          <p:nvPr/>
        </p:nvGrpSpPr>
        <p:grpSpPr>
          <a:xfrm flipH="1">
            <a:off x="-882" y="395650"/>
            <a:ext cx="385555" cy="839265"/>
            <a:chOff x="11667" y="3260"/>
            <a:chExt cx="1055" cy="1947"/>
          </a:xfrm>
        </p:grpSpPr>
        <p:sp>
          <p:nvSpPr>
            <p:cNvPr id="365" name="Google Shape;365;p38"/>
            <p:cNvSpPr/>
            <p:nvPr/>
          </p:nvSpPr>
          <p:spPr>
            <a:xfrm>
              <a:off x="11667" y="3260"/>
              <a:ext cx="1055" cy="1947"/>
            </a:xfrm>
            <a:custGeom>
              <a:rect b="b" l="l" r="r" t="t"/>
              <a:pathLst>
                <a:path extrusionOk="0" h="778654" w="422193">
                  <a:moveTo>
                    <a:pt x="389327" y="0"/>
                  </a:moveTo>
                  <a:lnTo>
                    <a:pt x="422193" y="3313"/>
                  </a:lnTo>
                  <a:lnTo>
                    <a:pt x="422193" y="173820"/>
                  </a:lnTo>
                  <a:lnTo>
                    <a:pt x="389327" y="167185"/>
                  </a:lnTo>
                  <a:cubicBezTo>
                    <a:pt x="266641" y="167185"/>
                    <a:pt x="167185" y="266641"/>
                    <a:pt x="167185" y="389327"/>
                  </a:cubicBezTo>
                  <a:cubicBezTo>
                    <a:pt x="167185" y="512013"/>
                    <a:pt x="266641" y="611469"/>
                    <a:pt x="389327" y="611469"/>
                  </a:cubicBezTo>
                  <a:lnTo>
                    <a:pt x="422193" y="604834"/>
                  </a:lnTo>
                  <a:lnTo>
                    <a:pt x="422193" y="775341"/>
                  </a:lnTo>
                  <a:lnTo>
                    <a:pt x="389327" y="778654"/>
                  </a:lnTo>
                  <a:cubicBezTo>
                    <a:pt x="174308" y="778654"/>
                    <a:pt x="0" y="604346"/>
                    <a:pt x="0" y="389327"/>
                  </a:cubicBezTo>
                  <a:cubicBezTo>
                    <a:pt x="0" y="174308"/>
                    <a:pt x="174308" y="0"/>
                    <a:pt x="389327" y="0"/>
                  </a:cubicBezTo>
                  <a:close/>
                </a:path>
              </a:pathLst>
            </a:custGeom>
            <a:gradFill>
              <a:gsLst>
                <a:gs pos="0">
                  <a:srgbClr val="E88E57"/>
                </a:gs>
                <a:gs pos="100000">
                  <a:srgbClr val="EA4D2C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8"/>
            <p:cNvSpPr/>
            <p:nvPr/>
          </p:nvSpPr>
          <p:spPr>
            <a:xfrm flipH="1" rot="-5400000">
              <a:off x="12212" y="3933"/>
              <a:ext cx="201" cy="522"/>
            </a:xfrm>
            <a:custGeom>
              <a:rect b="b" l="l" r="r" t="t"/>
              <a:pathLst>
                <a:path extrusionOk="0" h="1814" w="1102">
                  <a:moveTo>
                    <a:pt x="1071" y="1323"/>
                  </a:moveTo>
                  <a:lnTo>
                    <a:pt x="611" y="1784"/>
                  </a:lnTo>
                  <a:cubicBezTo>
                    <a:pt x="603" y="1794"/>
                    <a:pt x="592" y="1802"/>
                    <a:pt x="580" y="1807"/>
                  </a:cubicBezTo>
                  <a:cubicBezTo>
                    <a:pt x="579" y="1807"/>
                    <a:pt x="578" y="1807"/>
                    <a:pt x="578" y="1807"/>
                  </a:cubicBezTo>
                  <a:cubicBezTo>
                    <a:pt x="570" y="1811"/>
                    <a:pt x="562" y="1812"/>
                    <a:pt x="554" y="1812"/>
                  </a:cubicBezTo>
                  <a:cubicBezTo>
                    <a:pt x="553" y="1812"/>
                    <a:pt x="551" y="1813"/>
                    <a:pt x="551" y="1813"/>
                  </a:cubicBezTo>
                  <a:cubicBezTo>
                    <a:pt x="549" y="1813"/>
                    <a:pt x="547" y="1812"/>
                    <a:pt x="545" y="1812"/>
                  </a:cubicBezTo>
                  <a:cubicBezTo>
                    <a:pt x="540" y="1811"/>
                    <a:pt x="535" y="1810"/>
                    <a:pt x="530" y="1808"/>
                  </a:cubicBezTo>
                  <a:cubicBezTo>
                    <a:pt x="525" y="1807"/>
                    <a:pt x="519" y="1805"/>
                    <a:pt x="514" y="1802"/>
                  </a:cubicBezTo>
                  <a:cubicBezTo>
                    <a:pt x="511" y="1800"/>
                    <a:pt x="508" y="1798"/>
                    <a:pt x="505" y="1796"/>
                  </a:cubicBezTo>
                  <a:cubicBezTo>
                    <a:pt x="502" y="1794"/>
                    <a:pt x="499" y="1793"/>
                    <a:pt x="497" y="1790"/>
                  </a:cubicBezTo>
                  <a:lnTo>
                    <a:pt x="30" y="1323"/>
                  </a:lnTo>
                  <a:cubicBezTo>
                    <a:pt x="0" y="1293"/>
                    <a:pt x="0" y="1244"/>
                    <a:pt x="30" y="1215"/>
                  </a:cubicBezTo>
                  <a:cubicBezTo>
                    <a:pt x="60" y="1185"/>
                    <a:pt x="108" y="1185"/>
                    <a:pt x="139" y="1215"/>
                  </a:cubicBezTo>
                  <a:lnTo>
                    <a:pt x="475" y="1550"/>
                  </a:lnTo>
                  <a:lnTo>
                    <a:pt x="475" y="803"/>
                  </a:lnTo>
                  <a:cubicBezTo>
                    <a:pt x="475" y="760"/>
                    <a:pt x="509" y="725"/>
                    <a:pt x="551" y="725"/>
                  </a:cubicBezTo>
                  <a:cubicBezTo>
                    <a:pt x="594" y="725"/>
                    <a:pt x="629" y="760"/>
                    <a:pt x="629" y="803"/>
                  </a:cubicBezTo>
                  <a:lnTo>
                    <a:pt x="629" y="1548"/>
                  </a:lnTo>
                  <a:lnTo>
                    <a:pt x="963" y="1215"/>
                  </a:lnTo>
                  <a:cubicBezTo>
                    <a:pt x="992" y="1185"/>
                    <a:pt x="1041" y="1185"/>
                    <a:pt x="1071" y="1215"/>
                  </a:cubicBezTo>
                  <a:cubicBezTo>
                    <a:pt x="1101" y="1244"/>
                    <a:pt x="1101" y="1293"/>
                    <a:pt x="1071" y="1323"/>
                  </a:cubicBezTo>
                  <a:close/>
                  <a:moveTo>
                    <a:pt x="551" y="518"/>
                  </a:moveTo>
                  <a:cubicBezTo>
                    <a:pt x="509" y="518"/>
                    <a:pt x="474" y="483"/>
                    <a:pt x="474" y="440"/>
                  </a:cubicBezTo>
                  <a:cubicBezTo>
                    <a:pt x="474" y="397"/>
                    <a:pt x="509" y="363"/>
                    <a:pt x="551" y="363"/>
                  </a:cubicBezTo>
                  <a:cubicBezTo>
                    <a:pt x="594" y="363"/>
                    <a:pt x="629" y="397"/>
                    <a:pt x="629" y="440"/>
                  </a:cubicBezTo>
                  <a:cubicBezTo>
                    <a:pt x="629" y="483"/>
                    <a:pt x="594" y="518"/>
                    <a:pt x="551" y="518"/>
                  </a:cubicBezTo>
                  <a:close/>
                  <a:moveTo>
                    <a:pt x="551" y="155"/>
                  </a:moveTo>
                  <a:cubicBezTo>
                    <a:pt x="509" y="155"/>
                    <a:pt x="474" y="121"/>
                    <a:pt x="474" y="78"/>
                  </a:cubicBezTo>
                  <a:cubicBezTo>
                    <a:pt x="474" y="35"/>
                    <a:pt x="509" y="0"/>
                    <a:pt x="551" y="0"/>
                  </a:cubicBezTo>
                  <a:cubicBezTo>
                    <a:pt x="594" y="0"/>
                    <a:pt x="629" y="35"/>
                    <a:pt x="629" y="78"/>
                  </a:cubicBezTo>
                  <a:cubicBezTo>
                    <a:pt x="629" y="121"/>
                    <a:pt x="594" y="155"/>
                    <a:pt x="551" y="1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35"/>
                <a:buFont typeface="Arial"/>
                <a:buNone/>
              </a:pPr>
              <a:r>
                <a:t/>
              </a:r>
              <a:endParaRPr b="0" i="0" sz="163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微信图片_20220612020852" id="367" name="Google Shape;367;p38"/>
          <p:cNvPicPr preferRelativeResize="0"/>
          <p:nvPr/>
        </p:nvPicPr>
        <p:blipFill rotWithShape="1">
          <a:blip r:embed="rId4">
            <a:alphaModFix/>
          </a:blip>
          <a:srcRect b="65426" l="20896" r="17371" t="10123"/>
          <a:stretch/>
        </p:blipFill>
        <p:spPr>
          <a:xfrm>
            <a:off x="8140065" y="4638040"/>
            <a:ext cx="8750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8"/>
          <p:cNvSpPr txBox="1"/>
          <p:nvPr/>
        </p:nvSpPr>
        <p:spPr>
          <a:xfrm>
            <a:off x="634350" y="635775"/>
            <a:ext cx="7875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 </a:t>
            </a:r>
            <a:endParaRPr b="1" i="0" sz="3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8"/>
          <p:cNvSpPr txBox="1"/>
          <p:nvPr/>
        </p:nvSpPr>
        <p:spPr>
          <a:xfrm>
            <a:off x="600700" y="1498575"/>
            <a:ext cx="5390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0" name="Google Shape;37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75" y="395650"/>
            <a:ext cx="533544" cy="84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0200" y="831200"/>
            <a:ext cx="3515475" cy="351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